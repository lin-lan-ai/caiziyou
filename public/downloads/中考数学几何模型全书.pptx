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2860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WenQuanYi Zen Hei"/>
              </a:defRPr>
            </a:pPr>
            <a:r>
              <a:t>中考数学几何模型全书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WenQuanYi Zen Hei"/>
              </a:defRPr>
            </a:pPr>
            <a:r>
              <a:t>（完整版·授课应试通用）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WenQuanYi Zen Hei"/>
              </a:defRPr>
            </a:pPr>
            <a:r>
              <a:t>全 11 模块 · 47+ 几何模型 · 中考满分冲刺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CCDD"/>
                </a:solidFill>
                <a:latin typeface="WenQuanYi Zen Hei"/>
              </a:defRPr>
            </a:pPr>
            <a:r>
              <a:t>每章末配习题白板页 — 讲练结合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WenQuanYi Zen Hei"/>
              </a:defRPr>
            </a:pPr>
            <a:r>
              <a:t>目  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WenQuanYi Zen Hei"/>
              </a:defRPr>
            </a:pPr>
            <a:r>
              <a:t>模块1：模块一：角度倒角基础模型  — 选择填空必考 · 几何解题基石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44752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WenQuanYi Zen Hei"/>
              </a:defRPr>
            </a:pPr>
            <a:r>
              <a:t>模块2：模块二：角平分线四大核心模型  — 中考高频中档题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92224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WenQuanYi Zen Hei"/>
              </a:defRPr>
            </a:pPr>
            <a:r>
              <a:t>模块3：模块三：全等三角形核心模型  — 中档解答题必考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39696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WenQuanYi Zen Hei"/>
              </a:defRPr>
            </a:pPr>
            <a:r>
              <a:t>模块4：模块四：中点三大专属模型  — 独立高频考点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8716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WenQuanYi Zen Hei"/>
              </a:defRPr>
            </a:pPr>
            <a:r>
              <a:t>模块5：模块五：相似三角形核心模型  — 压轴第二问主力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39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WenQuanYi Zen Hei"/>
              </a:defRPr>
            </a:pPr>
            <a:r>
              <a:t>模块6：模块六：中考压轴最值&amp;轨迹模型  — 满分冲刺核心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82111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WenQuanYi Zen Hei"/>
              </a:defRPr>
            </a:pPr>
            <a:r>
              <a:t>模块7：模块七：动态变换专项模型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9583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WenQuanYi Zen Hei"/>
              </a:defRPr>
            </a:pPr>
            <a:r>
              <a:t>模块8：模块八：圆几何必考模型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77055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WenQuanYi Zen Hei"/>
              </a:defRPr>
            </a:pPr>
            <a:r>
              <a:t>模块9：模块九：函数几何压轴模型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24527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WenQuanYi Zen Hei"/>
              </a:defRPr>
            </a:pPr>
            <a:r>
              <a:t>模块10：模块十：五大万能辅助线套路总纲  — 全书通用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1999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WenQuanYi Zen Hei"/>
              </a:defRPr>
            </a:pPr>
            <a:r>
              <a:t>模块11：模块十一：补充网红必考模型  — 全书查漏补缺 · 零遗漏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19471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WenQuanYi Zen Hei"/>
              </a:defRPr>
            </a:pPr>
            <a:r>
              <a:t>终章：中考几何模型总复盘（应试必背）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66943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WenQuanYi Zen Hei"/>
              </a:defRPr>
            </a:pPr>
            <a:r>
              <a:t>全书共 47+ 模型，每模型六段式精讲，每章末配习题白板页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模块一：角度倒角基础模型  |  1. 八字模型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选择填空必考 · 几何解题基石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两个对顶三角形，依托三角形内角和为180度、对顶角相等，推导得出两组对角和相等。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73351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🔍 识别条件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73351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两条线段相交，形成上下对顶的两个三角形，整体呈"8"字形结构。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66543"/>
            <a:ext cx="201168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✅ 必考结论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066543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相交形成的对顶三角，上两角之和 = 下两角之和。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59736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📐 标准解题步骤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459736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① 观察图形，识别八字对顶三角结构；② 利用内角和与对顶角性质，列出角度等式；③ 代入已知角度，快速求解未知角。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44952"/>
            <a:ext cx="201168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🎯 万能口诀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044952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八字相交角和等，对顶倒角最轻松。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38144"/>
            <a:ext cx="201168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⚠️ 易错扣分点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438144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复杂图形中遗漏隐藏八字结构；混淆对角和与对角相等的区别。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模块一：角度倒角基础模型  |  2. 飞镖模型（凹四边形模型）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选择填空必考 · 几何解题基石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凹四边形结构可拆分两个三角形，利用外角定理推导，凹进去的最大角度等于外侧三个尖角的角度和。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73351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🔍 识别条件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73351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四边形有一处向内凹陷，整体呈飞镖形状。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66543"/>
            <a:ext cx="201168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✅ 必考结论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066543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凹角 = 外侧三个内角之和。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59736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📐 标准解题步骤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459736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① 识别飞镖凹陷结构；② 直接套用角度和结论；③ 代入已知角度计算未知角。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52928"/>
            <a:ext cx="201168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🎯 万能口诀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85292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飞镖一凹三角和，倒角秒杀不用磨。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46120"/>
            <a:ext cx="201168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⚠️ 易错扣分点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24612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记错公式算成两角和；复杂组合图形中无法快速剥离飞镖结构。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模块一：角度倒角基础模型  |  3. 平行线拐角模型（铅笔头、锯齿模型）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选择填空必考 · 几何解题基石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依托平行线的内错角、同旁内角性质，通过拐点作平行线，拆分复杂角度。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73351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🔍 识别条件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73351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一组平行线之间存在折线拐点，分为凸出铅笔头、凹凸交替锯齿两种形态。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66543"/>
            <a:ext cx="201168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✅ 必考结论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066543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铅笔头：角度和=180度×(拐点数+1)；锯齿：交替内错角相等。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59736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📐 标准解题步骤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459736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① 过所有拐点作已知平行线的辅助线；② 拆分出内错角、同旁内角；③ 累加或等量代换求解角度。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52928"/>
            <a:ext cx="201168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🎯 万能口诀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85292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拐点作平线，角度全拆分，铅笔求和锯齿换。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46120"/>
            <a:ext cx="201168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⚠️ 易错扣分点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24612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遗漏拐点辅助线强行硬算；记错铅笔头角度和公式。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模块一：角度倒角基础模型  |  4. 探照灯模型（定角定值模型）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选择填空必考 · 几何解题基石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定点引出两条定夹角射线，两边动点自由滑动，依托全等、相似或圆周角性质，锁定角度、面积、线段为定值。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73351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🔍 识别条件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73351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一个固定顶点、一组固定夹角、两条定边、边上两个自由动点。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66543"/>
            <a:ext cx="201168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✅ 必考结论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066543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动点滑动过程中：核心夹角不变、对应三角形面积定值、关键线段长度定值。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59736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📐 标准解题步骤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459736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① 锁定定点、定角、定边核心条件；② 构造全等/相似三角形；③ 代换边角关系，证明定值不变；④ 代入数据计算。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44952"/>
            <a:ext cx="201168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🎯 万能口诀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044952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定点定角探照灯，动点滑动值恒定。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38144"/>
            <a:ext cx="201168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⚠️ 易错扣分点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438144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误以为动点运动所有量都变化，无法找到不变量。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WenQuanYi Zen Hei"/>
              </a:defRPr>
            </a:pPr>
            <a:r>
              <a:t>📝 习题·模块一：角度倒角基础模型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3657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WenQuanYi Zen Hei"/>
              </a:defRPr>
            </a:pPr>
            <a:r>
              <a:t>（此处为习题内容区域 — 可根据需要填充题目）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💡 提示：将需要练习的题目填入上方区域，学员在此页完成作答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48640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  题 1：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  题 2：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  题 3：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模块二：角平分线四大核心模型  |  1. 角平分线垂两边模型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中考高频中档题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利用角平分线核心性质：角平分线上任意一点，到角两边的距离相等，实现线段等量代换。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73351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🔍 识别条件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73351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出现角平分线，且需要求解距离、线段相等、面积问题。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66543"/>
            <a:ext cx="201168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✅ 必考结论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066543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角平分线上一点向角两边作垂线，两条垂线段长度相等。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59736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📐 标准解题步骤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459736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① 过角平分线上的点向角两边作垂直辅助线；② 直接得出垂线段相等；③ 结合勾股、全等求解。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52928"/>
            <a:ext cx="201168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🎯 万能口诀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85292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见平分作双垂，线段相等不用推。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46120"/>
            <a:ext cx="201168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⚠️ 易错扣分点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24612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忘记作垂线辅助线；混淆角平分线与中线性质。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模块二：角平分线四大核心模型  |  2. 角平分线截长补短模型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中考高频中档题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在角的长边上截取短边等长线段，构造轴对称全等三角形，转化边角关系，解决线段和差问题。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73351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🔍 识别条件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73351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有角平分线，题干出现线段和、线段差的求证或计算问题。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66543"/>
            <a:ext cx="201168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✅ 必考结论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066543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截取后构造的两个三角形全等，实现分散线段拼接转化。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59736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📐 标准解题步骤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459736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① 在长边截取线段等于短边；② 连接端点构造全等三角形；③ 转化线段和差，完成解题。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52928"/>
            <a:ext cx="201168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🎯 万能口诀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85292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平分遇和差，截取造全等。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46120"/>
            <a:ext cx="201168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⚠️ 易错扣分点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24612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截取方向错误，无法构造有效全等。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模块二：角平分线四大核心模型  |  3. 角平分线+平行线模型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中考高频中档题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角平分线等分角度，平行线转移内错角，等量代换后出现等角，进而直接形成等腰三角形。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73351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🔍 识别条件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73351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角平分线与平行线同时出现，图形含交叉线段。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66543"/>
            <a:ext cx="201168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✅ 必考结论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066543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平分 + 平行，必出等腰。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59736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📐 标准解题步骤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459736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① 由角平分线得两角相等；② 由平行线得内错角相等；③ 等量代换出等角，判定等腰三角形。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52928"/>
            <a:ext cx="201168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🎯 万能口诀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85292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平行加平分，等腰自动生。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46120"/>
            <a:ext cx="201168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⚠️ 易错扣分点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24612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无法快速识别等腰结构，重复推导角度浪费时间。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模块二：角平分线四大核心模型  |  4. 角平分线+垂线等腰模型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中考高频中档题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垂直于角平分线的直线，沿角平分线对称折叠后重合，天然形成等腰三角形，且角平分线同时为中线和垂线。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73351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🔍 识别条件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73351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角平分线 + 一条直线垂直于平分线。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66543"/>
            <a:ext cx="201168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✅ 必考结论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066543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平分 + 垂直，三线合一，直接生成等腰三角形。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59736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📐 标准解题步骤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459736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① 识别垂直+角平分线结构；② 判定等腰三角形，利用三线合一；③ 得中点、垂直、边角相等结论。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52928"/>
            <a:ext cx="201168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🎯 万能口诀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85292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垂线贴平分，等腰三线真。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46120"/>
            <a:ext cx="201168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⚠️ 易错扣分点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24612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忽略三线合一性质，单独证明全等，步骤冗余。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WenQuanYi Zen Hei"/>
              </a:defRPr>
            </a:pPr>
            <a:r>
              <a:t>📝 习题·模块二：角平分线四大核心模型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3657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WenQuanYi Zen Hei"/>
              </a:defRPr>
            </a:pPr>
            <a:r>
              <a:t>（此处为习题内容区域 — 可根据需要填充题目）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💡 提示：将需要练习的题目填入上方区域，学员在此页完成作答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48640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  题 1：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  题 2：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  题 3：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模块三：全等三角形核心模型  |  1. 手拉手模型（共顶点旋转全等）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中档解答题必考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两个共顶点的等腰、等边、等腰直角三角形，绕公共顶点旋转，两侧三角形始终全等。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73351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🔍 识别条件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73351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两个等腰图形、共用一个顶点、顶角相等、侧边等长。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66543"/>
            <a:ext cx="201168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✅ 必考结论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066543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① 两组拉手三角形全等；② 对应拉手线段相等；③ 拉手线段夹角=公共顶角。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59736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📐 标准解题步骤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459736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① 找公共顶点、等顶角、等边长；② 推导夹角相等，证明SAS全等；③ 代换边角、夹角关系求解。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52928"/>
            <a:ext cx="201168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🎯 万能口诀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85292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共顶等腰手拉手，边等角等全等有。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46120"/>
            <a:ext cx="201168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⚠️ 易错扣分点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24612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找错全等三角形；忘记拉手夹角等于顶角，单独倒角浪费时间。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模块三：全等三角形核心模型  |  2. 三垂直K型模型（一线三垂直）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中档解答题必考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同一直线上存在三个直角，利用同角的余角相等，推导三角形两角一边相等。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73351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🔍 识别条件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73351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一条直线上分布三个垂直直角，图形呈K型，常见于正方形、直角三角形、平面直角坐标系。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66543"/>
            <a:ext cx="201168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✅ 必考结论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066543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左右两个直角三角形全等，对应直角边交叉相等。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59736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📐 标准解题步骤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459736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① 识别一线三垂直结构；② 利用余角相等证一组锐角相等；③ 结合直角、等直角边，用AAS/ASA证全等；④ 代换边长求解。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44952"/>
            <a:ext cx="201168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🎯 万能口诀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044952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一线三垂直，余角换全等。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38144"/>
            <a:ext cx="201168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⚠️ 易错扣分点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438144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对应边、对应角找反；坐标系中不会构造K型辅助线。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模块三：全等三角形核心模型  |  3. 一线三等角模型（全等+通用相似）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中档解答题必考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同一直线上三个相等的角，依托外角定理推导剩余角相等。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73351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🔍 识别条件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73351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一条直线上有三个角度完全相等的角（60度、90度、120度最常见）。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66543"/>
            <a:ext cx="201168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✅ 必考结论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066543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① 等边条件：三角形全等；② 不等边条件：三角形相似。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59736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📐 标准解题步骤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459736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① 确认一线三等角；② 外角推导剩余角相等；③ 根据边长关系判定全等/相似；④ 计算边长、角度、比例。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52928"/>
            <a:ext cx="201168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🎯 万能口诀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85292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一线三等角，全等相似跑不了。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46120"/>
            <a:ext cx="201168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⚠️ 易错扣分点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24612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不区分全等、相似适用条件；外角推导逻辑混乱。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模块三：全等三角形核心模型  |  4. 半角模型（正方形/菱形专属）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中档解答题必考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正方形、菱形中，大角内部存在一半度数的小角，通过旋转将零散边角拼接，构造全等三角形。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73351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🔍 识别条件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73351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正方形（90度含45度）、菱形（120度含60度），中心半角，两边有动点。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66543"/>
            <a:ext cx="201168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✅ 必考结论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066543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① 线段和差定值：短边之和=长边；② 三角形周长定值；③ 定点到斜边距离定值。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59736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📐 标准解题步骤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459736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① 旋转侧边三角形，拼接零散边角；② 证明旋转后三角形全等；③ 套用半角固定结论解题。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52928"/>
            <a:ext cx="201168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🎯 万能口诀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85292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大角含半角，旋转凑全等，和差定值显。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46120"/>
            <a:ext cx="201168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⚠️ 易错扣分点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24612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忘记旋转辅助线，无法拼接线段；记错线段和差公式。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模块三：全等三角形核心模型  |  5. 逆等线模型（压轴定值+最值）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中档解答题必考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双动点在两条定边反向运动，始终保持两段线段等长，通过平移、旋转构造全等。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73351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🔍 识别条件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73351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两条定直线、两个动点、运动中始终满足AM=BN（反向等线段）。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66543"/>
            <a:ext cx="201168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✅ 必考结论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066543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① 可构造全等转化分散线段；② 线段和最小值可定点锁定；③ 动点轨迹存在固定定点。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59736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📐 标准解题步骤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459736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① 识别反向等线段核心条件；② 平移构造全等三角形；③ 转化零散线段为连续线段；④ 两点之间线段最短求最值。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52928"/>
            <a:ext cx="201168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🎯 万能口诀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85292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反向等线平移凑，线段转化最值求。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46120"/>
            <a:ext cx="201168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⚠️ 易错扣分点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24612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混淆普通双动点与逆等线；硬算坐标导致计算量过大出错。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模块三：全等三角形核心模型  |  6. 对角互补模型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中档解答题必考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四边形一组对角和为180度，依托圆内接四边形性质或旋转全等，锁定边角定值。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73351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🔍 识别条件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73351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Quadrilateral with supplementary diagonal and one pair of equal adjacent sides.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58568"/>
            <a:ext cx="201168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✅ 必考结论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258568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1. Rotate to congruent triangles. 2. Fixed triangle area.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43784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📐 标准解题步骤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843784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1. Check supplementary and equal sides. 2. Rotate. 3. Substitute.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29000"/>
            <a:ext cx="201168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🎯 万能口诀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42900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Supplementary diagonals with equal sides.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22191"/>
            <a:ext cx="201168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⚠️ 易错扣分点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822191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Missing equal adjacent side condition.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WenQuanYi Zen Hei"/>
              </a:defRPr>
            </a:pPr>
            <a:r>
              <a:t>📝 习题·模块三：全等三角形核心模型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3657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WenQuanYi Zen Hei"/>
              </a:defRPr>
            </a:pPr>
            <a:r>
              <a:t>（此处为习题内容区域 — 可根据需要填充题目）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💡 提示：将需要练习的题目填入上方区域，学员在此页完成作答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48640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  题 1：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  题 2：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  题 3：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模块四：中点三大专属模型  |  1. 倍长中线模型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独立高频考点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三角形中线平分底边，将中线延长一倍，构造SAS全等三角形。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73351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🔍 识别条件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73351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Triangle midpoint/median with scattered segments.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66543"/>
            <a:ext cx="201168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✅ 必考结论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066543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Doubled median yields congruent triangles with equal sides and angles.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📐 标准解题步骤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651760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1. Find triangle median. 2. Extend to double length. 3. Connect endpoint. 4. Transfer.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36976"/>
            <a:ext cx="201168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🎯 万能口诀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236976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See median, double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30168"/>
            <a:ext cx="201168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⚠️ 易错扣分点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63016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Insufficient extension length.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模块四：中点三大专属模型  |  2. 直角三角形斜边中线模型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独立高频考点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直角三角形斜边中线等于斜边一半，快速构造等腰三角形。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73351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🔍 识别条件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73351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Right triangle with hypotenuse midpoint.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66543"/>
            <a:ext cx="201168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✅ 必考结论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066543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Hypotenuse median = half hypotenuse, forms isosceles.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59736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📐 标准解题步骤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459736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1. Lock right triangle and midpoint. 2. Connect median. 3. Use equal angles.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44952"/>
            <a:ext cx="201168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🎯 万能口诀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044952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Right triangle midpoint, half gives isosceles.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38144"/>
            <a:ext cx="201168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⚠️ 易错扣分点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438144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Using on non-right triangles.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模块四：中点三大专属模型  |  3. 三角形中位线模型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独立高频考点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连接三角形两边中点的线段，天然平行于底边且长度为底边一半。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73351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🔍 识别条件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73351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Two midpoints in triangle.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66543"/>
            <a:ext cx="201168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✅ 必考结论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066543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Mid-segment parallel to base, length = half base.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59736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📐 标准解题步骤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459736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1. Identify two midpoints. 2. Connect. 3. Apply parallel and half-length.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44952"/>
            <a:ext cx="201168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🎯 万能口诀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044952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Two midpoints connect, parallel and half.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38144"/>
            <a:ext cx="201168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⚠️ 易错扣分点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438144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Single midpoint mistaken for mid-segment.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WenQuanYi Zen Hei"/>
              </a:defRPr>
            </a:pPr>
            <a:r>
              <a:t>📝 习题·模块四：中点三大专属模型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3657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WenQuanYi Zen Hei"/>
              </a:defRPr>
            </a:pPr>
            <a:r>
              <a:t>（此处为习题内容区域 — 可根据需要填充题目）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💡 提示：将需要练习的题目填入上方区域，学员在此页完成作答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48640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  题 1：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  题 2：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  题 3：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模块五：相似三角形核心模型  |  1. 母子型相似（共角相似）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压轴第二问主力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两个三角形共用一个顶角，另有一组对应角相等，天然相似。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73351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🔍 识别条件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73351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Shared angle, inner triangle, right triangle altitude.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66543"/>
            <a:ext cx="201168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✅ 必考结论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066543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1. Large similar to small. 2. Projection theorem: leg squared = hypotenuse segment x hypotenuse.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📐 标准解题步骤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651760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1. Find shared and equal angles. 2. Identify similarity. 3. Set proportions.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36976"/>
            <a:ext cx="201168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🎯 万能口诀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236976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Shared angle similarity, square product directly known.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22191"/>
            <a:ext cx="201168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⚠️ 易错扣分点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822191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Wrong vertex correspondence.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模块五：相似三角形核心模型  |  2. 平行线分线段成比例模型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压轴第二问主力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一组平行线截取两条直线，截得的对应线段成比例。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73351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🔍 识别条件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73351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Multiple parallel lines crossing two lines.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66543"/>
            <a:ext cx="201168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✅ 必考结论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066543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Corresponding segments proportional.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59736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📐 标准解题步骤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459736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1. Identify parallel group. 2. Set proportions. 3. Substitute.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44952"/>
            <a:ext cx="201168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🎯 万能口诀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044952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Parallel lines cut segments proportionally.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38144"/>
            <a:ext cx="201168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⚠️ 易错扣分点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438144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Wrong segment correspondence.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WenQuanYi Zen Hei"/>
              </a:defRPr>
            </a:pPr>
            <a:r>
              <a:t>📝 习题·模块五：相似三角形核心模型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3657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WenQuanYi Zen Hei"/>
              </a:defRPr>
            </a:pPr>
            <a:r>
              <a:t>（此处为习题内容区域 — 可根据需要填充题目）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💡 提示：将需要练习的题目填入上方区域，学员在此页完成作答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48640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  题 1：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  题 2：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  题 3：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模块六：中考压轴最值&amp;轨迹模型  |  1. 将军饮马模型（基础最值）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满分冲刺核心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利用轴对称性质，将折线距离转化为直线距离，依据"两点之间线段最短"求解最值。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73351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🔍 识别条件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73351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Two fixed points, one moving point on line, find min/max sum or perimeter.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58568"/>
            <a:ext cx="201168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✅ 必考结论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258568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1. Min sum: reflect, connect, intersection. 2. Max diff: extend 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43784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📐 标准解题步骤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843784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1. Reflect point across line. 2. Connect to other point. 3. Intersection is optimal.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29000"/>
            <a:ext cx="201168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🎯 万能口诀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42900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Min sum reflect, max diff connect directly.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22191"/>
            <a:ext cx="201168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⚠️ 易错扣分点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822191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Wrong reflection point.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模块六：中考压轴最值&amp;轨迹模型  |  2. 胡不归模型（带系数线段最值）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满分冲刺核心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解决PA+k*PB型带系数线段最值，通过构造特殊角，将k*PB线段转化为垂线段。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73351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🔍 识别条件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73351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Moving point on line, find min of PA + k*PB.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66543"/>
            <a:ext cx="201168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✅ 必考结论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066543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After angle construction, k*PB becomes perpendicular, min = perpendicular distance.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📐 标准解题步骤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651760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1. Identify PA+k*PB. 2. Construct special angle from k. 3. Convert to perpendicular. 4. Solve.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36976"/>
            <a:ext cx="201168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🎯 万能口诀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236976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Line moving with coefficient, construct angle for shortest.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22191"/>
            <a:ext cx="201168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⚠️ 易错扣分点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822191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Wrong angle construction.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模块六：中考压轴最值&amp;轨迹模型  |  3. 阿氏圆模型（圆上动点带系数最值）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满分冲刺核心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定点、定圆、圆上动点，求解PA+k*PB最值，通过构造母子型相似，缩放线段长度。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73351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🔍 识别条件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73351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Moving on circle, coefficient k, find PA+k*PB extreme.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66543"/>
            <a:ext cx="201168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✅ 必考结论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066543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After interior similarity, convert to standard optimization.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📐 标准解题步骤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651760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1. Identify circle, fixed points, moving point. 2. Construct similarity via radius. 3. Scale. 4. Solve.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36976"/>
            <a:ext cx="201168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🎯 万能口诀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236976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Circle with coefficient, center similarity to convert.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30168"/>
            <a:ext cx="201168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⚠️ 易错扣分点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63016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Confused with Hu Bu Gui (line vs circle).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模块六：中考压轴最值&amp;轨迹模型  |  4. 费马点模型（三线段和最小）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满分冲刺核心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在三角形内部找一点，到三顶点距离和最小，通过旋转60度拼接线段，转化为直线距离求解。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73351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🔍 识别条件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73351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Point inside triangle, find min sum of distances to vertices. All angles &lt; 120.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58568"/>
            <a:ext cx="201168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✅ 必考结论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258568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Fermat point has 120 degree angles between lines. Min sum = rotated segment length.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43784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📐 标准解题步骤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843784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1. Rotate one triangle 60 degrees. 2. Three segments become straight line. 3. Length is min sum.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29000"/>
            <a:ext cx="201168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🎯 万能口诀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42900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Fermat inside triangle, rotate 60 for min sum.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22191"/>
            <a:ext cx="201168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⚠️ 易错扣分点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822191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Angle &gt; 120: min at obtuse vertex instead.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模块六：中考压轴最值&amp;轨迹模型  |  5. 隐形圆模型（动点轨迹圆）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满分冲刺核心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题干无圆，但通过定点定长、定边定角、直角轨迹，可判定动点轨迹为圆。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73351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🔍 识别条件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73351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1. Fixed length. 2. Fixed angle to segment. 3. Right angle locus.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58568"/>
            <a:ext cx="201168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✅ 必考结论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258568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Locus is circle. Extreme on line from center to fixed point.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43784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📐 标准解题步骤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843784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1. Identify type. 2. Find center and radius. 3. Distance formula for extreme.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29000"/>
            <a:ext cx="201168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🎯 万能口诀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42900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Fixed length/angle/right angle reveals hidden circle.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22191"/>
            <a:ext cx="201168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⚠️ 易错扣分点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822191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Failing to recognize hidden circle.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模块六：中考压轴最值&amp;轨迹模型  |  6. 瓜豆原理（定比定角轨迹模型）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满分冲刺核心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定点、定角、定比例，主动点轨迹决定从动点轨迹，轨迹形状相似、角度相同、比例一致。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73351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🔍 识别条件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73351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Fixed point, moving point, fixed angle and ratio between them.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58568"/>
            <a:ext cx="201168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✅ 必考结论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258568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Point generates point, line generates line, circle generates circle. Similar loci.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43784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📐 标准解题步骤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843784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1. Identify fixed ratio and angle. 2. Determine driver locus. 3. Scale/rotate for follower.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29000"/>
            <a:ext cx="201168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🎯 万能口诀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42900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Fixed ratio melon-seed, similar locus transformation.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22191"/>
            <a:ext cx="201168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⚠️ 易错扣分点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822191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Confused with inversion (fixed product).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模块六：中考压轴最值&amp;轨迹模型  |  7. 反演变换模型（定积定角压轴）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满分冲刺核心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定点、定角、线段乘积为定值，实现轨迹反转：线生圆、圆生线。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73351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🔍 识别条件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73351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Fixed point O, driver P, follower Q, angle POQ fixed, OP*OQ fixed.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58568"/>
            <a:ext cx="201168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✅ 必考结论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258568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1. Line-&gt;circle. 2. Circle with point on it-&gt;line. 3. Circle-&gt;circle.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43784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📐 标准解题步骤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843784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1. Confirm conditions. 2. Determine driver locus. 3. Apply inversion. 4. Construct similarity.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29000"/>
            <a:ext cx="201168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🎯 万能口诀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42900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Fixed product inversion, line-circle transformation.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22191"/>
            <a:ext cx="201168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⚠️ 易错扣分点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822191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Confused with melon-seed.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WenQuanYi Zen Hei"/>
              </a:defRPr>
            </a:pPr>
            <a:r>
              <a:t>📝 习题·模块六：中考压轴最值&amp;轨迹模型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3657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WenQuanYi Zen Hei"/>
              </a:defRPr>
            </a:pPr>
            <a:r>
              <a:t>（此处为习题内容区域 — 可根据需要填充题目）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💡 提示：将需要练习的题目填入上方区域，学员在此页完成作答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48640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  题 1：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  题 2：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  题 3：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模块七：动态变换专项模型  |  1. 折叠模型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折叠为轴对称变换，折叠前后图形全等，边角、长度完全相等。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73351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🔍 识别条件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673351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Shape folded along a 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66543"/>
            <a:ext cx="201168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✅ 必考结论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066543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Corresponding sides and angles equal. Fold line perpendicularly bisects connecting points.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📐 标准解题步骤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651760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1. Mark equal parts. 2. Set variables. 3. Use Pythagorean or similarity equations.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36976"/>
            <a:ext cx="201168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🎯 万能口诀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236976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Fold = symmetry, equal sides and angles.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30168"/>
            <a:ext cx="201168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⚠️ 易错扣分点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63016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Missing hidden equal parts.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模块七：动态变换专项模型  |  2. 梯子滑动模型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定长线段两端在垂直直线上滑动，依托直角三角形斜边中线性质，锁定中点轨迹为圆弧。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73351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🔍 识别条件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673351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Fixed segment sliding on perpendicular axes/walls.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66543"/>
            <a:ext cx="201168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✅ 必考结论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066543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Midpoint locus = quarter circle arc. Distance from midpoint to fixed point constant.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📐 标准解题步骤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651760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1. Identify fixed-length sliding. 2. Use right triangle midpoint property. 3. Find circle center and radius.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36976"/>
            <a:ext cx="201168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🎯 万能口诀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236976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Fixed-length perpendicular slide, midpoint circular arc.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22191"/>
            <a:ext cx="201168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⚠️ 易错扣分点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822191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Cannot identify circular locus.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WenQuanYi Zen Hei"/>
              </a:defRPr>
            </a:pPr>
            <a:r>
              <a:t>📝 习题·模块七：动态变换专项模型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3657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WenQuanYi Zen Hei"/>
              </a:defRPr>
            </a:pPr>
            <a:r>
              <a:t>（此处为习题内容区域 — 可根据需要填充题目）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💡 提示：将需要练习的题目填入上方区域，学员在此页完成作答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48640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  题 1：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  题 2：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  题 3：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模块八：圆几何必考模型  |  1. 圆周角倒角模型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同弧圆周角相等、直径对直角、圆内接四边形对角互补。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73351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🔍 识别条件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673351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Polygon in circle, diameter, cyclic quadrilateral.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66543"/>
            <a:ext cx="201168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✅ 必考结论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066543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1. Same arc equal angles. 2. Diameter gives right angle. 3. Cyclic supplementary sum 180.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📐 标准解题步骤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651760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1. Find same arc, diameter, cyclic quad. 2. Apply angle properties. 3. Combine with congruence.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36976"/>
            <a:ext cx="201168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🎯 万能口诀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236976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Same arc equal, diameter right, cyclic supplementary.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30168"/>
            <a:ext cx="201168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⚠️ 易错扣分点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63016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Confusing same arc vs equal arc.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模块八：圆几何必考模型  |  2. 切线模型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切线与过切点的半径垂直，依托垂直性质、弦切角定理。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73351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🔍 识别条件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673351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Circle tangent, tangent point, radius.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66543"/>
            <a:ext cx="201168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✅ 必考结论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066543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1. Tangent perpendicular to radius. 2. Tangent-chord angle = inscribed angle of intercepted arc.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📐 标准解题步骤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651760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1. Prove tangent: connect radius, prove perpendicular. 2. Use perpendicular and tangent-chord angle.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36976"/>
            <a:ext cx="201168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🎯 万能口诀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236976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Tangent perpendicular to radius.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30168"/>
            <a:ext cx="201168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⚠️ 易错扣分点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63016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Non-standard proof steps.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WenQuanYi Zen Hei"/>
              </a:defRPr>
            </a:pPr>
            <a:r>
              <a:t>📝 习题·模块八：圆几何必考模型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3657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WenQuanYi Zen Hei"/>
              </a:defRPr>
            </a:pPr>
            <a:r>
              <a:t>（此处为习题内容区域 — 可根据需要填充题目）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💡 提示：将需要练习的题目填入上方区域，学员在此页完成作答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48640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  题 1：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  题 2：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  题 3：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模块九：函数几何压轴模型  |  1. 万能建系法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将所有几何图形放入平面直角坐标系，用坐标、解析式、距离公式、斜率替代纯几何推导。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73351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🔍 识别条件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673351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Stuck on geometry, complex dynamics, messy relationships.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58568"/>
            <a:ext cx="201168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✅ 必考结论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25856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All geometry problems solvable via coordinates.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📐 标准解题步骤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651760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1. Set up coordinate system. 2. Label all points. 3. Use formulas. 4. Solve algebraically.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36976"/>
            <a:ext cx="201168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🎯 万能口诀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236976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Stuck on geometry? Use coordinates.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30168"/>
            <a:ext cx="201168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⚠️ 易错扣分点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63016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Wrong coordinates.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模块九：函数几何压轴模型  |  2. 两直线垂直斜率模型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平面内两条直线垂直，斜率乘积为-1。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73351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🔍 识别条件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673351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Prove perpendicular, find perpendicular line, right triangle existence.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58568"/>
            <a:ext cx="201168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✅ 必考结论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25856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k1 x k2 = -1 iff lines perpendicular.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📐 标准解题步骤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651760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1. Find known slope. 2. Use -1 to find perpendicular slope. 3. Substitute point for equation.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36976"/>
            <a:ext cx="201168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🎯 万能口诀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236976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Perpendicular slope product = -1.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30168"/>
            <a:ext cx="201168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⚠️ 易错扣分点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63016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Axis-parallel lines have no slope.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模块九：函数几何压轴模型  |  3. 二次函数动点存在性模型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结合二次函数图像与几何性质，分类讨论等腰/直角/相似/平行四边形存在性问题。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73351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🔍 识别条件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673351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Moving point on parabola, find special shape existence.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58568"/>
            <a:ext cx="201168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✅ 必考结论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25856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All existence problems require classification.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📐 标准解题步骤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651760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1. Set point coordinates. 2. Classify all cases. 3. Solve and verify. 4. Eliminate invalid solutions.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36976"/>
            <a:ext cx="201168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🎯 万能口诀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236976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Moving point on function: classify, set equation, verify.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22191"/>
            <a:ext cx="201168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⚠️ 易错扣分点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822191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Missing cases or no verification.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WenQuanYi Zen Hei"/>
              </a:defRPr>
            </a:pPr>
            <a:r>
              <a:t>📝 习题·模块九：函数几何压轴模型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3657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WenQuanYi Zen Hei"/>
              </a:defRPr>
            </a:pPr>
            <a:r>
              <a:t>（此处为习题内容区域 — 可根据需要填充题目）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💡 提示：将需要练习的题目填入上方区域，学员在此页完成作答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48640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  题 1：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  题 2：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  题 3：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模块十：五大万能辅助线套路总纲  |  1. 截长补短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全书通用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长线段截取、短线段补长，构造全等转化线段。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模块十：五大万能辅助线套路总纲  |  2. 倍长中线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全书通用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延长中线一倍构造SAS全等，平移转移边角。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模块十：五大万能辅助线套路总纲  |  3. 作平行线（万能转移法）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全书通用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作平行线转移内错角、同位角，构造相似、等角、等腰。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模块十：五大万能辅助线套路总纲  |  4. 旋转构造（零散线段归集）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全书通用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旋转固定角度（60/90/120度），拼接零散边角构造全等。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模块十：五大万能辅助线套路总纲  |  5. 作垂线（造直角/高/距离）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全书通用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垂直造直角，激活余角、勾股、面积、相似所有直角体系结论。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模块十：五大万能辅助线套路总纲  |  6. 连接半径/弦心距（圆专属）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全书通用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连半径得等边、连弦心距得垂直平分。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模块十：五大万能辅助线套路总纲  |  7. 构造隐形圆（定角定边兜底）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全书通用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识别三类隐圆条件，锁定轨迹，圆性质秒杀最值。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模块十：五大万能辅助线套路总纲  |  8. 对称翻折（最值专属）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全书通用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轴对称化折为直，两点线段最短。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模块十：五大万能辅助线套路总纲  |  9. 构造母子相似（比例压轴专属）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全书通用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找公共角造等角，快速出相似比例。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模块十：五大万能辅助线套路总纲  |  10. 坐标建模（所有难题兜底）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全书通用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全部代数化，坐标、解析式、距离公式硬解。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WenQuanYi Zen Hei"/>
              </a:defRPr>
            </a:pPr>
            <a:r>
              <a:t>📝 习题·模块十：五大万能辅助线套路总纲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3657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WenQuanYi Zen Hei"/>
              </a:defRPr>
            </a:pPr>
            <a:r>
              <a:t>（此处为习题内容区域 — 可根据需要填充题目）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💡 提示：将需要练习的题目填入上方区域，学员在此页完成作答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48640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  题 1：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  题 2：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  题 3：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模块十一：补充网红必考模型  |  1. 垂美四边形模型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全书查漏补缺 · 零遗漏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对角线互相垂直的四边形，对边平方和恒定相等。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73351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🔍 识别条件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73351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Quadrilateral with perpendicular diagonals.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66543"/>
            <a:ext cx="201168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✅ 必考结论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066543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AB^2 + CD^2 = AD^2 + BC^2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59736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📐 标准解题步骤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459736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1. Check perpendicular diagonals. 2. Apply formula. 3. Substitute.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44952"/>
            <a:ext cx="201168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🎯 万能口诀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044952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Vertical diagonals, opposite square sums equal.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38144"/>
            <a:ext cx="201168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⚠️ 易错扣分点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438144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Applying to non-vertical quadrilaterals.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模块十一：补充网红必考模型  |  2. 中点四边形模型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全书查漏补缺 · 零遗漏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任意四边形四边中点依次连接，必生成平行四边形。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73351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🔍 识别条件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73351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Any quadrilateral, connect all side midpoints.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66543"/>
            <a:ext cx="201168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✅ 必考结论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066543"/>
            <a:ext cx="89611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1. Always parallelogram. 2. Equal diagonals-&gt;rhombus. 3. Perpendicular-&gt;rectangle. 4. Both-&gt;square. 5. Area=half.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07791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📐 标准解题步骤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907791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1. Check original diagonals. 2. Determine midpoint shape. 3. Apply.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93008"/>
            <a:ext cx="201168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🎯 万能口诀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49300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Midpoints connect, always parallelogram.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86200"/>
            <a:ext cx="201168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⚠️ 易错扣分点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88620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Cannot relate to diagonal properties.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模块十一：补充网红必考模型  |  3. 蚂蚁爬行模型（立体最短路径）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全书查漏补缺 · 零遗漏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立体图形表面最短路径，通过展开侧面化立体为平面。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73351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🔍 识别条件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73351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Shortest path on box/cylinder/prism surface.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66543"/>
            <a:ext cx="201168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✅ 必考结论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066543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Unfold then straight line. Box: compare 3 unfoldings.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59736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📐 标准解题步骤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459736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1. Unfold 3D surface. 2. Right triangle. 3. Pythagorean hypotenuse.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44952"/>
            <a:ext cx="201168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🎯 万能口诀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044952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3D shortest: unfold first.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38144"/>
            <a:ext cx="201168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⚠️ 易错扣分点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438144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Wrong unfolding.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WenQuanYi Zen Hei"/>
              </a:defRPr>
            </a:pPr>
            <a:r>
              <a:t>模块十一：补充网红必考模型  |  4. 圆幂定理全套（相交弦+切割线+割线）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全书查漏补缺 · 零遗漏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🔬 核心本质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280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圆内、圆上、圆外点与弦、切线的线段乘积定值。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73351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🔍 识别条件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73351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Intersecting chords, secants, tangent+secant.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66543"/>
            <a:ext cx="201168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✅ 必考结论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066543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1. Chords: PA*PB=PC*PD. 2. Tangent: PT^2=PA*PB. 3. Secants: PA*PB=PC*PD.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📐 标准解题步骤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6517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1. Identify type. 2. Apply formula. 3. Solve equation.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44952"/>
            <a:ext cx="201168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🎯 万能口诀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044952"/>
            <a:ext cx="8961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Inside chords product equal. Outside tangent square equal.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30168"/>
            <a:ext cx="201168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WenQuanYi Zen Hei"/>
              </a:defRPr>
            </a:pPr>
            <a:r>
              <a:t>⚠️ 易错扣分点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63016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Confusing three formulas.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WenQuanYi Zen Hei"/>
              </a:defRPr>
            </a:pPr>
            <a:r>
              <a:t>📝 习题·模块十一：补充网红必考模型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3657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WenQuanYi Zen Hei"/>
              </a:defRPr>
            </a:pPr>
            <a:r>
              <a:t>（此处为习题内容区域 — 可根据需要填充题目）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💡 提示：将需要练习的题目填入上方区域，学员在此页完成作答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48640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  题 1：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  题 2：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WenQuanYi Zen Hei"/>
              </a:defRPr>
            </a:pPr>
            <a:r>
              <a:t>  题 3：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WenQuanYi Zen Hei"/>
              </a:defRPr>
            </a:pPr>
            <a:r>
              <a:t>终章：中考几何模型总复盘（应试必背）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WenQuanYi Zen Hei"/>
              </a:defRPr>
            </a:pPr>
            <a:r>
              <a:t>考场做题优先级排序：</a:t>
            </a:r>
            <a:br/>
            <a:r>
              <a:t>1. 基础倒角（秒杀选择填空）：八字、飞镖、平行线拐角、探照灯</a:t>
            </a:r>
            <a:br/>
            <a:r>
              <a:t>2. 角平分线+中点模型（中档必考）：四平分模型、倍长中线、斜边中线、中位线</a:t>
            </a:r>
            <a:br/>
            <a:r>
              <a:t>3. 全等核心模型（解答题主力）：手拉手、K型、一线三等角、半角、逆等线、对角互补</a:t>
            </a:r>
            <a:br/>
            <a:r>
              <a:t>4. 相似模型（压轴第二问）：母子相似、平行比例、一线三等角相似</a:t>
            </a:r>
            <a:br/>
            <a:r>
              <a:t>5. 最值轨迹压轴（最后一问满分）：将军饮马、胡不归、阿氏圆、费马点、隐圆、瓜豆、反演变换</a:t>
            </a:r>
            <a:br/>
            <a:r>
              <a:t>6. 动态+圆+函数（全题型兜底）：折叠、滑动、圆幂、切线、建系法、动点存在性</a:t>
            </a:r>
            <a:br/>
            <a:br/>
            <a:r>
              <a:t>中考通用避坑总守则：</a:t>
            </a:r>
            <a:br/>
            <a:r>
              <a:t>• 所有动点题，先找不变量（定点、定角、定积、定比）</a:t>
            </a:r>
            <a:br/>
            <a:r>
              <a:t>• 直线动点→胡不归；圆上动点→阿氏圆；定比→瓜豆；定积→反演（绝不混淆）</a:t>
            </a:r>
            <a:br/>
            <a:r>
              <a:t>• 有中点优先倍长/中位线；有平分优先作双垂/造等腰</a:t>
            </a:r>
            <a:br/>
            <a:r>
              <a:t>• 线段和差→截长补短；分散线段→旋转/平移归集</a:t>
            </a:r>
            <a:br/>
            <a:r>
              <a:t>• 几何无思路→直接万能建系法兜底</a:t>
            </a:r>
            <a:br/>
            <a:br/>
            <a:r>
              <a:t>全书零遗漏确认清单（亮亮体系100%全覆盖）：</a:t>
            </a:r>
            <a:br/>
            <a:r>
              <a:t>基础倒角四模型 | 角平分线四模型 | 六大全等模型</a:t>
            </a:r>
            <a:br/>
            <a:r>
              <a:t>中点三模型 | 相似核心模型 | 七大最值轨迹压轴</a:t>
            </a:r>
            <a:br/>
            <a:r>
              <a:t>动态变换双模型 | 圆全套模型 | 函数几何压轴三模型</a:t>
            </a:r>
            <a:br/>
            <a:r>
              <a:t>十大万能辅助线 | 补充模型（垂美、中点四边形、蚂蚁、圆幂）</a:t>
            </a:r>
            <a:br/>
            <a:r>
              <a:t>顶级压轴（瓜豆、反演、逆等线、探照灯）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